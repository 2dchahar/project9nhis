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8" r:id="rId4"/>
    <p:sldId id="259" r:id="rId5"/>
    <p:sldId id="268" r:id="rId6"/>
    <p:sldId id="269" r:id="rId7"/>
    <p:sldId id="262" r:id="rId8"/>
    <p:sldId id="267" r:id="rId9"/>
    <p:sldId id="263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Positive Sentiment (%)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IT</c:v>
                </c:pt>
                <c:pt idx="1">
                  <c:v>Banking</c:v>
                </c:pt>
                <c:pt idx="2">
                  <c:v>Energy</c:v>
                </c:pt>
                <c:pt idx="3">
                  <c:v>Pharma</c:v>
                </c:pt>
                <c:pt idx="4">
                  <c:v>FMCG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64</c:v>
                </c:pt>
                <c:pt idx="2">
                  <c:v>57</c:v>
                </c:pt>
                <c:pt idx="3">
                  <c:v>72</c:v>
                </c:pt>
                <c:pt idx="4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1C-4212-8FB2-9C2E7A5F33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CE72B-9BF3-42C6-9335-AB013458513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090993-A312-497E-BEB3-89B06DE6E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763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60829-E7BC-A5F2-234C-032777500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960950-933B-34D6-CD8C-0AC8B03B7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0D853-BF3D-DC99-4526-9CE2355DB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EBC6-4538-43E9-86F5-B693755D8C0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E5532-7C2A-7695-26F6-CCF1C6CF2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135B9-8EBA-1434-7674-84501F48B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5D871-96EB-4854-8499-51CE6CFE8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341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98D0-31B7-CBF7-64D0-AC9832F89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F2180-10AC-87A2-8034-4923FFE7D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DD27B-A330-B715-FE6F-EF4DC5374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EBC6-4538-43E9-86F5-B693755D8C0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6281F-AB1C-72F7-D104-38DFC6EF4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CD718-0EA4-11DC-91C9-30DE8759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5D871-96EB-4854-8499-51CE6CFE8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72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4B9D6-519D-7DDD-0AB3-B2E12787A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13D26-23F2-95F2-926A-5C1915D94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6ADA5-7616-6BBD-C91D-6F0BBD3E9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EBC6-4538-43E9-86F5-B693755D8C0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9E245-C3AE-795D-5DCA-EE03A32B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5571F-626D-01C1-92E0-F7683944C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5D871-96EB-4854-8499-51CE6CFE8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755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AAE6-1993-C6A5-C2E0-E4C6BC48A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49758-0426-22E6-B6EB-27BCF60FE2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075B7-2505-27F2-51BF-127455F8D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96422-5FDC-BB4C-AA88-AF9D06D4A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EBC6-4538-43E9-86F5-B693755D8C0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50C75-F03D-2B28-9669-CB152DF8D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7B64F-28C5-1580-576A-A167896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5D871-96EB-4854-8499-51CE6CFE8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138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EA925-1640-99B5-1558-9956C7CD1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91543-3703-7F46-4E29-2210B35C0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DF9C9-1D2D-6936-C99E-439455F5B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159EB0-027A-DE0E-58ED-DEC066480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36014E-F31C-17AB-9F4D-182B2539E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E02F28-F167-B923-279A-CE305D274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EBC6-4538-43E9-86F5-B693755D8C0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D9A44-496F-81F4-B4D6-1699595B8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775B8B-2F97-AEA5-36C0-16BC78952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5D871-96EB-4854-8499-51CE6CFE8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474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9C187-7212-5963-F0BE-AE01BFB9A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B00F45-7A45-1999-4BB5-CA34E00D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EBC6-4538-43E9-86F5-B693755D8C0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810CAF-9A55-0373-B310-7CA38BD62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ECB5FC-9D86-11D6-26DF-ED0CA41D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5D871-96EB-4854-8499-51CE6CFE8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152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9DE0E-57B8-93A0-32A0-7549BFB4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EBC6-4538-43E9-86F5-B693755D8C0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C46D5F-4F00-2696-CB7B-96E794718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A086C-7DE7-4944-2070-AC17A8F91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5D871-96EB-4854-8499-51CE6CFE8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248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0B898-BB5C-7B30-18F6-2499EB273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0A874-DBA2-36E8-64BE-D1972966E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3FE13-A7A3-0B6F-7FA4-24BC5CC57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935C1-6DC2-83A8-4F68-97B3C4618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EBC6-4538-43E9-86F5-B693755D8C0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636B8-9235-FB86-62CD-3C63D90BB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71A0C-0BBF-A15A-E618-4C35D261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5D871-96EB-4854-8499-51CE6CFE8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51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99130-9643-14B0-1886-DA5A4B59D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A4C8DF-38E4-696E-CEFA-F85F1FF1D5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60983-0088-D4D9-CE0C-73519CC56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B0306-3C00-F38C-2C99-9FA4BF97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EBC6-4538-43E9-86F5-B693755D8C0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4F00A-7BC2-53D0-46F7-DF93ED52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C7118-4326-0573-59F9-5C48B730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5D871-96EB-4854-8499-51CE6CFE8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171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E184-DE9E-59FA-20EA-42DFC8D97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3A2659-ACB1-757A-C84F-F0008DC28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F15A0-FE2A-6AE8-7969-9896DF45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EBC6-4538-43E9-86F5-B693755D8C0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22B92-9414-3935-F53F-16739FC7D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0D0CC-BE72-730D-B40A-E3803BC8F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5D871-96EB-4854-8499-51CE6CFE8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222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38D2CC-DC42-5405-E5FB-C64D95249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CD861-4934-F1D6-BBF8-ADD7988F1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4771B-DCFD-C492-D84C-B6D478931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EBC6-4538-43E9-86F5-B693755D8C0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6C75D-7A7D-9E13-3B60-9EFDF4214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6EB7F-D2B6-7182-40FB-A1853BD3D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5D871-96EB-4854-8499-51CE6CFE8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490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27A8F4-7998-93C8-8357-1FBB0FB7B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2C5B9-D21F-2FF6-EBE4-59A2A0A24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D307D-2946-56AE-D6DC-1D443AED1A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2BEBC6-4538-43E9-86F5-B693755D8C0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2E550-B92F-7BB1-A24A-8E28BB6FC8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D2806-638C-88E0-0FF8-0FA7FD872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25D871-96EB-4854-8499-51CE6CFE8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6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5329E-4A0B-BC0F-FFC3-D48EFFDFC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01924"/>
            <a:ext cx="6797615" cy="8190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NEXTHIKE IT SOLUTIONS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7341EF-D5B6-B817-AA6C-6FBF71D57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601119"/>
            <a:ext cx="6797615" cy="1875990"/>
          </a:xfrm>
        </p:spPr>
        <p:txBody>
          <a:bodyPr>
            <a:normAutofit fontScale="77500" lnSpcReduction="20000"/>
          </a:bodyPr>
          <a:lstStyle/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IN" sz="1800" b="0" i="0" u="none" strike="noStrike" baseline="0" dirty="0"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</a:t>
            </a:r>
            <a:r>
              <a:rPr lang="en-US" sz="7600" b="1" i="0" u="none" strike="noStrike" baseline="0" dirty="0">
                <a:latin typeface="Times New Roman" panose="02020603050405020304" pitchFamily="18" charset="0"/>
              </a:rPr>
              <a:t>News Research Tool</a:t>
            </a:r>
            <a:endParaRPr lang="en-IN" sz="3600" dirty="0"/>
          </a:p>
        </p:txBody>
      </p:sp>
      <p:pic>
        <p:nvPicPr>
          <p:cNvPr id="5" name="Picture 4" descr="A blue and white background with text">
            <a:extLst>
              <a:ext uri="{FF2B5EF4-FFF2-40B4-BE49-F238E27FC236}">
                <a16:creationId xmlns:a16="http://schemas.microsoft.com/office/drawing/2014/main" id="{98A2CA86-747E-7231-DC38-B7BAD2836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614" y="0"/>
            <a:ext cx="5394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750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5522-2B44-A694-5F6F-299910EBF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Summary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3E3467-9E41-9456-59E3-0A4CDED043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17680"/>
            <a:ext cx="10134600" cy="402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defRPr sz="1800">
                <a:solidFill>
                  <a:srgbClr val="373737"/>
                </a:solidFill>
              </a:defRPr>
            </a:pPr>
            <a:r>
              <a:rPr lang="en-US" sz="3200" dirty="0">
                <a:latin typeface="+mj-lt"/>
                <a:cs typeface="Arial" panose="020B0604020202020204" pitchFamily="34" charset="0"/>
              </a:rPr>
              <a:t>AI-powered equity research platform automating news analysis and sentiment detection.</a:t>
            </a:r>
          </a:p>
          <a:p>
            <a:pPr algn="just">
              <a:defRPr sz="1800">
                <a:solidFill>
                  <a:srgbClr val="373737"/>
                </a:solidFill>
              </a:defRPr>
            </a:pPr>
            <a:r>
              <a:rPr lang="en-US" sz="3200" dirty="0">
                <a:latin typeface="+mj-lt"/>
                <a:cs typeface="Arial" panose="020B0604020202020204" pitchFamily="34" charset="0"/>
              </a:rPr>
              <a:t>Combines LLM summarization with structured AI agents for Buy / Sell / Hold decisions.</a:t>
            </a:r>
          </a:p>
          <a:p>
            <a:pPr algn="just">
              <a:defRPr sz="1800">
                <a:solidFill>
                  <a:srgbClr val="373737"/>
                </a:solidFill>
              </a:defRPr>
            </a:pPr>
            <a:r>
              <a:rPr lang="en-US" sz="3200" dirty="0">
                <a:latin typeface="+mj-lt"/>
                <a:cs typeface="Arial" panose="020B0604020202020204" pitchFamily="34" charset="0"/>
              </a:rPr>
              <a:t>Reduces analyst effort by over 60% while improving consistency and speed.</a:t>
            </a:r>
          </a:p>
          <a:p>
            <a:pPr algn="just">
              <a:defRPr sz="1800">
                <a:solidFill>
                  <a:srgbClr val="373737"/>
                </a:solidFill>
              </a:defRPr>
            </a:pPr>
            <a:r>
              <a:rPr lang="en-US" sz="3200" dirty="0">
                <a:latin typeface="+mj-lt"/>
                <a:cs typeface="Arial" panose="020B0604020202020204" pitchFamily="34" charset="0"/>
              </a:rPr>
              <a:t>Cloud-ready, cost-optimized, and suitable for enterprise-scale deployment.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315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BB20D-5BA5-1629-D90B-DE51B9ABA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17755"/>
            <a:ext cx="6159260" cy="1095555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	</a:t>
            </a:r>
            <a:r>
              <a:rPr lang="en-US" sz="4000" b="1" dirty="0"/>
              <a:t>Problem Statement</a:t>
            </a: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8E2C40-356E-2099-F3D3-29C9876EF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653" y="1333290"/>
            <a:ext cx="9210330" cy="4946740"/>
          </a:xfrm>
        </p:spPr>
        <p:txBody>
          <a:bodyPr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  <a:defRPr sz="1800">
                <a:solidFill>
                  <a:srgbClr val="373737"/>
                </a:solidFill>
              </a:defRPr>
            </a:pPr>
            <a:r>
              <a:rPr lang="en-US" sz="3200" dirty="0"/>
              <a:t>Large volumes of unstructured financial news must be analyzed daily.</a:t>
            </a:r>
          </a:p>
          <a:p>
            <a:pPr marL="457200" indent="-457200" algn="l">
              <a:buFont typeface="Arial" panose="020B0604020202020204" pitchFamily="34" charset="0"/>
              <a:buChar char="•"/>
              <a:defRPr sz="1800">
                <a:solidFill>
                  <a:srgbClr val="373737"/>
                </a:solidFill>
              </a:defRPr>
            </a:pPr>
            <a:r>
              <a:rPr lang="en-US" sz="3200" dirty="0"/>
              <a:t>Manual analysis introduces delay, bias, and inconsistency.</a:t>
            </a:r>
          </a:p>
          <a:p>
            <a:pPr marL="457200" indent="-457200" algn="l">
              <a:buFont typeface="Arial" panose="020B0604020202020204" pitchFamily="34" charset="0"/>
              <a:buChar char="•"/>
              <a:defRPr sz="1800">
                <a:solidFill>
                  <a:srgbClr val="373737"/>
                </a:solidFill>
              </a:defRPr>
            </a:pPr>
            <a:r>
              <a:rPr lang="en-US" sz="3200" dirty="0"/>
              <a:t>Need for an automated AI-driven equity research platform.</a:t>
            </a:r>
          </a:p>
          <a:p>
            <a:pPr lvl="1" algn="l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95531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F4D25-8D60-731C-85CC-3CDB4642D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049" y="411697"/>
            <a:ext cx="9144000" cy="835833"/>
          </a:xfrm>
        </p:spPr>
        <p:txBody>
          <a:bodyPr>
            <a:normAutofit/>
          </a:bodyPr>
          <a:lstStyle/>
          <a:p>
            <a:pPr algn="l"/>
            <a:r>
              <a:rPr lang="en-IN" sz="4000" b="1" dirty="0"/>
              <a:t>	Project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2D14E-AF95-105D-C636-F86DB7024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9595" y="1247530"/>
            <a:ext cx="12330023" cy="5930150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  <a:defRPr sz="1800">
                <a:solidFill>
                  <a:srgbClr val="373737"/>
                </a:solidFill>
              </a:defRPr>
            </a:pPr>
            <a:r>
              <a:rPr lang="en-US" sz="3200" dirty="0"/>
              <a:t>Automate news ingestion and summarization.</a:t>
            </a:r>
          </a:p>
          <a:p>
            <a:pPr marL="457200" indent="-457200" algn="l">
              <a:buFont typeface="Arial" panose="020B0604020202020204" pitchFamily="34" charset="0"/>
              <a:buChar char="•"/>
              <a:defRPr sz="1800">
                <a:solidFill>
                  <a:srgbClr val="373737"/>
                </a:solidFill>
              </a:defRPr>
            </a:pPr>
            <a:r>
              <a:rPr lang="en-US" sz="3200" dirty="0"/>
              <a:t>Generate Buy / Sell / Hold recommendations.</a:t>
            </a:r>
          </a:p>
          <a:p>
            <a:pPr marL="457200" indent="-457200" algn="l">
              <a:buFont typeface="Arial" panose="020B0604020202020204" pitchFamily="34" charset="0"/>
              <a:buChar char="•"/>
              <a:defRPr sz="1800">
                <a:solidFill>
                  <a:srgbClr val="373737"/>
                </a:solidFill>
              </a:defRPr>
            </a:pPr>
            <a:r>
              <a:rPr lang="en-US" sz="3200" dirty="0"/>
              <a:t>Provide dashboards and exportable insights.</a:t>
            </a:r>
          </a:p>
        </p:txBody>
      </p:sp>
    </p:spTree>
    <p:extLst>
      <p:ext uri="{BB962C8B-B14F-4D97-AF65-F5344CB8AC3E}">
        <p14:creationId xmlns:p14="http://schemas.microsoft.com/office/powerpoint/2010/main" val="2717731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4E331-C9EF-C4AB-85BB-A5E6D2302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dirty="0"/>
              <a:t>Key Capabilities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1E919-5664-2E88-CB76-75E56E5ED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373737"/>
                </a:solidFill>
              </a:defRPr>
            </a:pPr>
            <a:r>
              <a:rPr lang="en-US" sz="3200" dirty="0"/>
              <a:t>LLM-powered summarization.</a:t>
            </a:r>
          </a:p>
          <a:p>
            <a:pPr>
              <a:defRPr sz="1800">
                <a:solidFill>
                  <a:srgbClr val="373737"/>
                </a:solidFill>
              </a:defRPr>
            </a:pPr>
            <a:r>
              <a:rPr lang="en-US" sz="3200" dirty="0" err="1"/>
              <a:t>LangGraph</a:t>
            </a:r>
            <a:r>
              <a:rPr lang="en-US" sz="3200" dirty="0"/>
              <a:t> decision agents.</a:t>
            </a:r>
          </a:p>
          <a:p>
            <a:pPr>
              <a:defRPr sz="1800">
                <a:solidFill>
                  <a:srgbClr val="373737"/>
                </a:solidFill>
              </a:defRPr>
            </a:pPr>
            <a:r>
              <a:rPr lang="en-US" sz="3200" dirty="0"/>
              <a:t>Sector dashboards and history tracking.</a:t>
            </a:r>
          </a:p>
          <a:p>
            <a:pPr>
              <a:defRPr sz="1800">
                <a:solidFill>
                  <a:srgbClr val="373737"/>
                </a:solidFill>
              </a:defRPr>
            </a:pPr>
            <a:r>
              <a:rPr lang="en-US" sz="3200" dirty="0"/>
              <a:t>Secure, cloud-ready deployment.</a:t>
            </a:r>
          </a:p>
        </p:txBody>
      </p:sp>
    </p:spTree>
    <p:extLst>
      <p:ext uri="{BB962C8B-B14F-4D97-AF65-F5344CB8AC3E}">
        <p14:creationId xmlns:p14="http://schemas.microsoft.com/office/powerpoint/2010/main" val="2097057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8A4A4-A377-FFB5-824C-3098E13B0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dirty="0"/>
              <a:t>Technology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3FF0A-4548-33CE-B262-7B2D4F579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821"/>
            <a:ext cx="10515600" cy="4351338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373737"/>
                </a:solidFill>
              </a:defRPr>
            </a:pPr>
            <a:r>
              <a:rPr lang="en-IN" sz="3200" dirty="0"/>
              <a:t>Frontend: </a:t>
            </a:r>
            <a:r>
              <a:rPr lang="en-IN" sz="3200" dirty="0" err="1"/>
              <a:t>Streamlit</a:t>
            </a:r>
            <a:endParaRPr lang="en-IN" sz="3200" dirty="0"/>
          </a:p>
          <a:p>
            <a:pPr>
              <a:defRPr sz="1800">
                <a:solidFill>
                  <a:srgbClr val="373737"/>
                </a:solidFill>
              </a:defRPr>
            </a:pPr>
            <a:r>
              <a:rPr lang="en-IN" sz="3200" dirty="0"/>
              <a:t>Backend: Python 3.11</a:t>
            </a:r>
          </a:p>
          <a:p>
            <a:pPr>
              <a:defRPr sz="1800">
                <a:solidFill>
                  <a:srgbClr val="373737"/>
                </a:solidFill>
              </a:defRPr>
            </a:pPr>
            <a:r>
              <a:rPr lang="en-IN" sz="3200" dirty="0"/>
              <a:t>AI: OpenAI GPT-4o-mini + </a:t>
            </a:r>
            <a:r>
              <a:rPr lang="en-IN" sz="3200" dirty="0" err="1"/>
              <a:t>LangChain</a:t>
            </a:r>
            <a:r>
              <a:rPr lang="en-IN" sz="3200" dirty="0"/>
              <a:t> Core</a:t>
            </a:r>
          </a:p>
          <a:p>
            <a:pPr>
              <a:defRPr sz="1800">
                <a:solidFill>
                  <a:srgbClr val="373737"/>
                </a:solidFill>
              </a:defRPr>
            </a:pPr>
            <a:r>
              <a:rPr lang="en-IN" sz="3200" dirty="0"/>
              <a:t>Agents: </a:t>
            </a:r>
            <a:r>
              <a:rPr lang="en-IN" sz="3200" dirty="0" err="1"/>
              <a:t>LangGraph</a:t>
            </a:r>
            <a:endParaRPr lang="en-IN" sz="3200" dirty="0"/>
          </a:p>
          <a:p>
            <a:pPr>
              <a:defRPr sz="1800">
                <a:solidFill>
                  <a:srgbClr val="373737"/>
                </a:solidFill>
              </a:defRPr>
            </a:pPr>
            <a:r>
              <a:rPr lang="en-IN" sz="3200" dirty="0"/>
              <a:t>DevOps: Docker, GitHub Actions</a:t>
            </a:r>
          </a:p>
        </p:txBody>
      </p:sp>
    </p:spTree>
    <p:extLst>
      <p:ext uri="{BB962C8B-B14F-4D97-AF65-F5344CB8AC3E}">
        <p14:creationId xmlns:p14="http://schemas.microsoft.com/office/powerpoint/2010/main" val="2498498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38D1-CF3C-5F6A-6CA7-5E2399107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024"/>
            <a:ext cx="8047008" cy="1656270"/>
          </a:xfrm>
        </p:spPr>
        <p:txBody>
          <a:bodyPr>
            <a:normAutofit/>
          </a:bodyPr>
          <a:lstStyle/>
          <a:p>
            <a:r>
              <a:rPr lang="en-IN" sz="3600" b="1" dirty="0"/>
              <a:t>System Architecture (End-to-End Flow)</a:t>
            </a:r>
            <a:br>
              <a:rPr lang="en-IN" sz="3600" b="1" dirty="0"/>
            </a:br>
            <a:endParaRPr lang="en-IN" sz="36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C9A7D5-7099-5BF2-D7B0-63A7D8A8E0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66842"/>
            <a:ext cx="886509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User (Web / Analyst)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    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Streamlit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UI (Presentation Layer)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    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NewsAPI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(Data Ingestion)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    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LangChain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Core (News Summarization)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    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LangGraph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Agent (Decision Engine)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    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Dashboards &amp; Database (Insights Storage)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7069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45C65-5499-9BAE-8736-F55FD142A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57626" cy="13255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Sector-wise Sentiment Analysis (Sample Dataset)</a:t>
            </a:r>
            <a:br>
              <a:rPr lang="en-IN" b="1" dirty="0"/>
            </a:br>
            <a:endParaRPr lang="en-IN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6F5E92-368B-9957-1EEC-152D6504BB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2519205"/>
              </p:ext>
            </p:extLst>
          </p:nvPr>
        </p:nvGraphicFramePr>
        <p:xfrm>
          <a:off x="838200" y="1253331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92063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779FE-DC3D-F578-18FD-87E77D055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ROI &amp; Cost-Saving Estimation</a:t>
            </a:r>
            <a:br>
              <a:rPr lang="en-IN" dirty="0"/>
            </a:br>
            <a:endParaRPr lang="en-IN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BBA461-4C7C-00DE-1853-CAC766DA4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1006"/>
            <a:ext cx="10515600" cy="4351338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373737"/>
                </a:solidFill>
              </a:defRPr>
            </a:pPr>
            <a:r>
              <a:rPr lang="en-US" sz="3200" dirty="0"/>
              <a:t>Manual research requires ~3–4 hours per company per week.</a:t>
            </a:r>
          </a:p>
          <a:p>
            <a:pPr>
              <a:defRPr sz="1800">
                <a:solidFill>
                  <a:srgbClr val="373737"/>
                </a:solidFill>
              </a:defRPr>
            </a:pPr>
            <a:r>
              <a:rPr lang="en-US" sz="3200" dirty="0"/>
              <a:t>Automation reduces this effort by ~60–70%.</a:t>
            </a:r>
          </a:p>
          <a:p>
            <a:pPr>
              <a:defRPr sz="1800">
                <a:solidFill>
                  <a:srgbClr val="373737"/>
                </a:solidFill>
              </a:defRPr>
            </a:pPr>
            <a:r>
              <a:rPr lang="en-US" sz="3200" dirty="0"/>
              <a:t>For 5 analysts: ~40–50 hours saved per week.</a:t>
            </a:r>
          </a:p>
          <a:p>
            <a:pPr>
              <a:defRPr sz="1800">
                <a:solidFill>
                  <a:srgbClr val="373737"/>
                </a:solidFill>
              </a:defRPr>
            </a:pPr>
            <a:r>
              <a:rPr lang="en-US" sz="3200" dirty="0"/>
              <a:t>Estimated monthly savings: ₹1.6–2.0 lakhs with minimal AI cost.</a:t>
            </a:r>
          </a:p>
        </p:txBody>
      </p:sp>
    </p:spTree>
    <p:extLst>
      <p:ext uri="{BB962C8B-B14F-4D97-AF65-F5344CB8AC3E}">
        <p14:creationId xmlns:p14="http://schemas.microsoft.com/office/powerpoint/2010/main" val="1044482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62EDB-1E3A-66DA-61DC-932FFF8F2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Roadmap – Phase 2 &amp; Phase 3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9D6C7-35E7-435E-125F-5036BBB4F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79989" cy="4351338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373737"/>
                </a:solidFill>
              </a:defRPr>
            </a:pPr>
            <a:r>
              <a:rPr lang="en-IN" sz="3200" dirty="0"/>
              <a:t>Phase 2: Real-time stock prices, technical indicators, alerts.</a:t>
            </a:r>
          </a:p>
          <a:p>
            <a:pPr>
              <a:defRPr sz="1800">
                <a:solidFill>
                  <a:srgbClr val="373737"/>
                </a:solidFill>
              </a:defRPr>
            </a:pPr>
            <a:r>
              <a:rPr lang="en-IN" sz="3200" dirty="0"/>
              <a:t>Phase 2: Vector database for long-term market memory.</a:t>
            </a:r>
          </a:p>
          <a:p>
            <a:pPr>
              <a:defRPr sz="1800">
                <a:solidFill>
                  <a:srgbClr val="373737"/>
                </a:solidFill>
              </a:defRPr>
            </a:pPr>
            <a:r>
              <a:rPr lang="en-IN" sz="3200" dirty="0"/>
              <a:t>Phase 3: Bull vs Bear multi-agent debate framework.</a:t>
            </a:r>
          </a:p>
          <a:p>
            <a:pPr>
              <a:defRPr sz="1800">
                <a:solidFill>
                  <a:srgbClr val="373737"/>
                </a:solidFill>
              </a:defRPr>
            </a:pPr>
            <a:r>
              <a:rPr lang="en-IN" sz="3200" dirty="0"/>
              <a:t>Phase 3: Enterprise features – RBAC, audit logs, APIs.</a:t>
            </a:r>
          </a:p>
        </p:txBody>
      </p:sp>
    </p:spTree>
    <p:extLst>
      <p:ext uri="{BB962C8B-B14F-4D97-AF65-F5344CB8AC3E}">
        <p14:creationId xmlns:p14="http://schemas.microsoft.com/office/powerpoint/2010/main" val="521470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323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NEXTHIKE IT SOLUTIONS</vt:lpstr>
      <vt:lpstr>Project Summary</vt:lpstr>
      <vt:lpstr> Problem Statement</vt:lpstr>
      <vt:lpstr> Project Objectives</vt:lpstr>
      <vt:lpstr>Key Capabilities</vt:lpstr>
      <vt:lpstr>Technology Stack</vt:lpstr>
      <vt:lpstr>System Architecture (End-to-End Flow) </vt:lpstr>
      <vt:lpstr>Sector-wise Sentiment Analysis (Sample Dataset) </vt:lpstr>
      <vt:lpstr>ROI &amp; Cost-Saving Estimation </vt:lpstr>
      <vt:lpstr>Future Roadmap – Phase 2 &amp; Phase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Dinesh Chahar</dc:creator>
  <cp:lastModifiedBy>Dinesh Chahar</cp:lastModifiedBy>
  <cp:revision>13</cp:revision>
  <dcterms:created xsi:type="dcterms:W3CDTF">2025-05-22T15:48:52Z</dcterms:created>
  <dcterms:modified xsi:type="dcterms:W3CDTF">2026-01-05T18:13:17Z</dcterms:modified>
</cp:coreProperties>
</file>